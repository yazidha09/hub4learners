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54864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Calibri"/>
              </a:defRPr>
            </a:pPr>
            <a:r>
              <a:t>Frontend Technologies</a:t>
            </a:r>
          </a:p>
        </p:txBody>
      </p:sp>
      <p:pic>
        <p:nvPicPr>
          <p:cNvPr id="5" name="Picture 4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74320"/>
            <a:ext cx="640080" cy="640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188720"/>
            <a:ext cx="33832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33832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4630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React 19 + TypeScript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UI framework with lazy loading &amp; hooks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188720"/>
            <a:ext cx="33832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188720"/>
            <a:ext cx="33832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14630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Vite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18288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Build tool with HMR &amp; code-splitting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598" y="1188720"/>
            <a:ext cx="33832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598" y="1188720"/>
            <a:ext cx="33832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18" y="14630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Tailwind CSS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8" y="18288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Utility-first styling with dark mode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49040"/>
            <a:ext cx="33832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749040"/>
            <a:ext cx="33832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0233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react-router-dom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3891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SPA routing with lazy pages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3749040"/>
            <a:ext cx="33832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59" y="3749040"/>
            <a:ext cx="33832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79" y="40233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TipTap Editor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79" y="43891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Rich text (color, align, highlight)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598" y="3749040"/>
            <a:ext cx="33832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598" y="3749040"/>
            <a:ext cx="33832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18" y="40233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react-markdown + react-pdf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18" y="43891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Content rendering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943600"/>
            <a:ext cx="5029200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5943600"/>
            <a:ext cx="54864" cy="640080"/>
          </a:xfrm>
          <a:prstGeom prst="rect">
            <a:avLst/>
          </a:prstGeom>
          <a:solidFill>
            <a:srgbClr val="059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9893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Context &amp; Hooks: AuthContext, GamificationContext, useNotifications, useSettings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5943600"/>
            <a:ext cx="5212080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5943600"/>
            <a:ext cx="54864" cy="6400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5989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API Client: auth, course, admin, org, friends, gamification, qcm, discussions, payment, billing, notifications, category, public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54864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Calibri"/>
              </a:defRPr>
            </a:pPr>
            <a:r>
              <a:t>Backend Technologies</a:t>
            </a:r>
          </a:p>
        </p:txBody>
      </p:sp>
      <p:pic>
        <p:nvPicPr>
          <p:cNvPr id="5" name="Picture 4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74320"/>
            <a:ext cx="640080" cy="640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188720"/>
            <a:ext cx="530352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53035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4630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Core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82880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FastAPI + Python 3.11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08483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Uvicorn ASGI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34086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JWT (HS256) + bcrypt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59689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WebSockets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188720"/>
            <a:ext cx="530352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188720"/>
            <a:ext cx="530352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4630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AI &amp; RAG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82880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Google Gemini 3.1 Flash Lite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08483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Pinecone Vector 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34086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PyMuPDF (PDF parsing)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59689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Gemini Embeddings (768-dim)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749040"/>
            <a:ext cx="530352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749040"/>
            <a:ext cx="5303520" cy="54864"/>
          </a:xfrm>
          <a:prstGeom prst="rect">
            <a:avLst/>
          </a:prstGeom>
          <a:solidFill>
            <a:srgbClr val="059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023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Routes (16)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3891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Auth, Course, Category, 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64515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Org, AI, Friend, Notifications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90118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Course-Gen, Announcement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15721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Payment, Billing, Gamification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41324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Discussion, Public, WebSocket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749040"/>
            <a:ext cx="530352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3749040"/>
            <a:ext cx="53035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4023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Middleware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3891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CORS (localhost:5173)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64515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GZip compression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90118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Static Files cache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15721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Connection Pool (20/30)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54864" cy="548640"/>
          </a:xfrm>
          <a:prstGeom prst="rect">
            <a:avLst/>
          </a:prstGeom>
          <a:solidFill>
            <a:srgbClr val="059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Calibri"/>
              </a:defRPr>
            </a:pPr>
            <a:r>
              <a:t>Database &amp; Infrastructure</a:t>
            </a:r>
          </a:p>
        </p:txBody>
      </p:sp>
      <p:pic>
        <p:nvPicPr>
          <p:cNvPr id="5" name="Picture 4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74320"/>
            <a:ext cx="640080" cy="640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188720"/>
            <a:ext cx="5029200" cy="5029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5029200" cy="54864"/>
          </a:xfrm>
          <a:prstGeom prst="rect">
            <a:avLst/>
          </a:prstGeom>
          <a:solidFill>
            <a:srgbClr val="059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82880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PostgreSQL (Neon.tech Serverless)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10312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SQLModel 0.0.16 + SQLAlchemy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37744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asyncpg + psycopg2-binary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5176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- 25+ tables: users, courses, enrollments,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2608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  gamification, discussions, friendships,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20040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  notifications, payments,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47472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Auto migrations on startup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74904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Vector DB: Pinecone (hub4learners)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188720"/>
            <a:ext cx="5212080" cy="5029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188720"/>
            <a:ext cx="52120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371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Infrastructure &amp; 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82880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Stripe - Checkout &amp; Pro ($9.99/mo)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1031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Google Gemini - LLM + Embeddings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3774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Neon.tech - Serverless PostgreSQL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6517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Git - Version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92608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UV - Python dependency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20040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- 3-Tier: React -&gt; FastAPI -&gt; PostgreSQL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4747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Real-time: WebSocket (messaging, notifs)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7490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266"/>
                </a:solidFill>
                <a:latin typeface="Calibri"/>
              </a:defRPr>
            </a:pPr>
            <a:r>
              <a:t>- Frontend: Vite build, code-splitting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