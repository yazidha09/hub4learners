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Hub4Learners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Plateforme d'apprentissage intelligente et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Avec génération de cours par IA, gamification et communauté en temps réel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743200" cy="36576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Projet de Fin d'Études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600" b="1">
                <a:solidFill>
                  <a:srgbClr val="E2E8F0"/>
                </a:solidFill>
                <a:latin typeface="Segoe UI"/>
              </a:defRPr>
            </a:pPr>
            <a:r>
              <a:t>Équipe : [Noms des membres]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Encadrant : [Nom de l'encadrant]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t>Établissement : [Nom de l'école/université]  |  Année universitaire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Contexte &amp; Problématique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042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Pourquoi Hub4Learners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14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Objectifs du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157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Ce que nous voulons accomplir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26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Analyse des besoins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27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Cas d'utilisation et spécifications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37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Architecture &amp; Conception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5387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Architecture logicielle et modèle de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49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Technologies utilisées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502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Stack technique complet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60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60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Réalisation —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3616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API, IA, RAG, WebSocket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5720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Réalisation —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7731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Interface utilisateur et composants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83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983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Fonctionnalités clés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1846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Gamification, Paiements, Social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94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Démonstration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596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Parcours de l'application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806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806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Tests &amp; Qualité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60076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Validation du projet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6217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Bilan &amp; Perspectives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6419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Difficultés et améliorations futures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Contexte &amp; Problématique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5029200" cy="201168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4864" cy="2011680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533"/>
                </a:solidFill>
                <a:latin typeface="Segoe UI"/>
              </a:defRPr>
            </a:pPr>
            <a:r>
              <a:t>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Les plateformes d'apprentissage existantes sont souvent 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Rigides — contenu statique, peu d'interactivité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Génériques — pas de contenu adapté au programme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Isolantes — pas de communauté ni d'entraide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Coûteuses — abonnements élevés pour les étudiants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94560"/>
            <a:ext cx="5029200" cy="201168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54864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Problème posé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Segoe UI"/>
              </a:defRPr>
            </a:pPr>
            <a:r>
              <a:t>Comment concevoir une plateforme qui 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Permet aux professeurs de créer des cours facilement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Offre un tutorat IA basé sur le contenu du cours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Gamifie l'apprentissage pour maintenir la motivation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Facilite les interactions sociales et la communication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10515600" cy="36576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Objectifs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2852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7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Objectif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77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Développer une plateforme LMS interactive où les professeurs publient du contenu structuré et les étudiants apprennent avec l'aide de l'IA, le suivi de progression et une communauté active.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3144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8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Auth &amp; Profil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80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Authentification sécurisée (JWT), rôles (étudiant, professeur, admin), profils utilisateurs avec bio et avatar.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3436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8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Création de cours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083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Éditeur riche (TipTap), hiérarchie Cours → Section → Sous-section → Bloc de leçon, médias (images, vidéos, PDF).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63728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8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IA &amp;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586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Tuteur IA contextuel (Gemini + Pinecone), génération de QCM, résumés de cours, génération de cours depuis un PDF.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14020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89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Gamification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0894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XP, niveaux, séquences (streaks), succès, badges, classements quotidiens/hebdomadaires/tous les temps.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464312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592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Social &amp; Communication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92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Discussions par leçon, messagerie temps réel (WebSocket), notifications live, annonces universitaires.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20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514604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095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Paiements &amp; Pro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095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Stripe Checkout pour cours payants, abonnement Pro (9,99$/mois) pour fonctionnalités avancées.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23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5648960"/>
            <a:ext cx="274320" cy="27432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598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Administration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598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Dashboard admin, gestion des utilisateurs/rôles, statistiques plateforme, gestion des universités.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Analyse des besoins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Diagramme de cas d'utilisation — Acteurs et fonctionnalités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Acteurs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👤 Visiteur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S'inscrire, parcourir le catalogue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🎓 Étudiant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Apprendre, QCM, XP, discussions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👨‍🏫 Professeur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Créer des cours,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🛡️ Admin Université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9592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Gérer utilisateurs/annonces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⚡ Super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Gérer plateforme &amp; universités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Fonctionnalités principales (par sprints)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Sprint 1 —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Inscription, connexion, JWT, rôles (5 cas)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26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Sprint 2 — Cours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26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CRUD cours, sections, leçons, inscription, progression (6 cas)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91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Sprint 3 —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91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Tuteur RAG, QCM, résumés, génération PDF → cours (6 cas)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657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Sprint 4 — Gamification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XP, niveaux, streaks, succès, badges, classements (11 cas)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023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Sprint 5 — 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Discussions, messagerie temps réel, notifications (9 cas)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389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Sprint 6 — Paiements &amp; 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89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Stripe, analytics, admin, universités (10 cas)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Architecture &amp;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Architecture 3-tiers + services externes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029200" cy="100584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4864" cy="1005840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Frontend (React 19 + Vite 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Pages, Composants, Contextes, Hooks</a:t>
            </a:r>
            <a:br/>
            <a:r>
              <a:t>TypeScript, Tailwind CSS, TipTap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▼ REST API / WebSocket 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5029200" cy="100584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Backend (FastAPI + Python 3.11)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16 routeurs, Contrôleurs, Utilitaires</a:t>
            </a:r>
            <a:br/>
            <a:r>
              <a:t>SQLModel ORM, WebSocket,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▼ REST API / WebSocket 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5029200" cy="100584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Base de données (PostgreSQL + Neon.tech)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20 modèles, migrations auto, index</a:t>
            </a:r>
            <a:br/>
            <a:r>
              <a:t>Pinecone (vecteurs), Stripe (paiements)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Services externes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🤖 Google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LLM pour chat, QCM, résumés, 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📊 Pinecone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Base vectorielle pour RAG (768 dimensions)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💳 Stripe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Checkout sessions, validation paiements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🌐 Neon.tech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PostgreSQL serverless, pool size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Modèle de données (20 entités)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 → University | Course → Section → Subsection → LessonBlock</a:t>
            </a:r>
            <a:br/>
            <a:r>
              <a:t>Enrollment | CourseProgress | CourseFeedback | QCMAttempt</a:t>
            </a:r>
            <a:br/>
            <a:r>
              <a:t>Friendship → FriendMessage | DiscussionPost → Vote/Report/Summary</a:t>
            </a:r>
            <a:br/>
            <a:r>
              <a:t>UserGamification → XPLog | Achievement | Badge</a:t>
            </a:r>
            <a:br/>
            <a:r>
              <a:t>Notification | Announcement | GeneratedCourse | Category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Technologies utilisées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474720" cy="438912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474720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33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Framework web asynchrone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186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SQLModel / SQLAlchemy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ORM et modèles de 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0273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PostgreSQL (Neon.tech)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8561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Base de données serverless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8678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asyncpg / psycopg2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6966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Connecteurs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708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python-jose / bcrypt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5371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JWT et hash des mots de passe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Google Generative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API Gemini, 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1389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Pinecone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218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Base vectorielle pour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2297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PyMuPDF (fitz)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70585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Parsing de PDF en chunks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9070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Stripe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08990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Paiements et sessions checkout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2910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python-pptx / Pillow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47395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Génération de rapports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103120"/>
            <a:ext cx="3474720" cy="438912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2103120"/>
            <a:ext cx="3474720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33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346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 19 + TypeScript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0175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Framework UI typé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2186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Vite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4015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Build tool rapide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60273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Tailwind CSS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78561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Styles utilitaires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98678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react-router-dom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16966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Routing SPA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3708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TipTap Editor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55371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Éditeur riche (color, align, highlight)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4754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react-markdown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937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Rendu Markdown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51389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react-pdf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53218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Affichage PDF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552297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WebSocket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570585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Messagerie temps réel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59070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Code-splitting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608990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React.lazy pour bundles optimisés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2103120"/>
            <a:ext cx="3474720" cy="438912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0" y="2103120"/>
            <a:ext cx="3474720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33"/>
                </a:solidFill>
                <a:latin typeface="Segoe UI"/>
              </a:defRPr>
            </a:pPr>
            <a:r>
              <a:t>Services &amp; Outils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28346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Neon.tech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301752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PostgreSQL managé serverless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2186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Pinecone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34015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Index vectoriel (hub4learners)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60273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Google Gemini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378561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LLM + embeddings (768-dim)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398678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Stripe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16966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Checkout paiements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43708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55371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Contrôle de version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47548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UV (Python)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937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Gestionnaire de dépendances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Réalisation —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16 routeurs API, 4 utilitaires IA, WebSocket temps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🔐 Auth &amp; Sécurité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JWT HS256, bcrypt, rôles (student → super_admin), middleware d'autorisation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📚 Gestion des cours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420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CRUD complet, hiérarchie 4 niveaux, upload médias, progression,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🤖 IA &amp;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8094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Tuteur contextuel (Gemini → Pinecone), génération QCM, résumé cours, PDF → cours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🎮 Gamification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1985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Service XP centralisé (anti-triche, limites journalières), succès, badges, classements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58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💬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8587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Discussions par leçon (vote, signalement), résumé IA des threads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👥 Social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97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Recherche d'utilisateurs, demande d'ami, messagerie texte/média temps réel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36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🔔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3659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Notifications push + WebSocket, marquage lu/suppression, annonces universitaires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755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🏛️ Organisations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7550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CRUD universités, demandes d'adhésion professeur, réaffectation utilisateurs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144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💳 Paiements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61441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Stripe Checkout, confirmation frontend → inscription, Pro à 9,99$/mois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053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📊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0533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Analytiques professeur (apprenants à risque), étudiant (progression, QCM, activité)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Réalisation —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9 pages, 20 composants, contextes, hooks et API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33"/>
                </a:solidFill>
                <a:latin typeface="Segoe UI"/>
              </a:defRPr>
            </a:pPr>
            <a:r>
              <a:t>Pages (lazy-loaded)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🏠 HomePage — Landing avec statistiques live, catégories, 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🔑 LoginPage / RegisterPage — Auth avec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📊 DashboardPage — Hub central → redirection selon 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🎓 StudentDashboard — Cours inscrits, progression, 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👨‍🏫 ProfessorDashboard — Gestion cours, analytics, génération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⚙️ AdminDashboard — Stats, utilisateurs, cours, universités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📖 CourseLearningPage — Lecteur cours, tutor IA, QCM, discussions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✅ PaymentResultPage — Confirmation Stripe succès/annulation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Composants clés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DashboardLayout — Navigation, thème, notifications, profil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DiscussionSection — Posts, votes, signalement, résumé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QCMModal — Sélection difficulté → quiz → résultat + XP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FriendChat / FriendsMessenger — Chat WebSocket temps réel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RichTextEditor — TipTap (couleur, alignement, surlignage)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UpgradeProModal — Stripe checkout, feature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GamificationToasts — Animations XP, niveau, succès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Leaderboard / XPBar / StreakWidget / BadgeShowcase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Contextes &amp; Hooks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AuthContext (token, rôle)  |  GamificationContext (XP toast queue)</a:t>
            </a:r>
            <a:br/>
            <a:r>
              <a:t>useNotifications (REST + WebSocket)  |  useSettings (thème, compact, vie privée)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API 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_client.ts — dedupGet, cachedGet, invalidate</a:t>
            </a:r>
            <a:br/>
            <a:r>
              <a:t>Modules par ressource : auth, course, admin, qcm, friends, gamification, billing, payment, org, public, notifications, discussions, category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Démonstration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2852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Inscription / Connexion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0428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Création de compte étudiant ou professeur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90576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Découverte des cours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81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Parcourir le catalogue, filtrer par catégorie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68300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Apprentissage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5876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Navigation cours, leçons, progression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46024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34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Tuteur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360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Posez une question → réponse contextualisée (RAG)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23748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Quiz &amp; Évaluation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41324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Génération QCM, soumission, score + XP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212852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Gamification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0428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XP, niveaux, streaks, badges, classements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90576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880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Discussion &amp; Entraide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81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Posts, votes, résumé IA par leçon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368300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57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Messagerie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85876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Chat temps réel entre amis (WebSocket)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446024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434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Création de cours (Prof)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6360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Éditeur riche, upload PDF → génération IA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5237480"/>
            <a:ext cx="320040" cy="320040"/>
          </a:xfrm>
          <a:prstGeom prst="ellipse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212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Paiement &amp; Pro (si applicable)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41324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Stripe Checkout, abonnement 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533"/>
                </a:solidFill>
                <a:latin typeface="Segoe UI"/>
              </a:defRPr>
            </a:pPr>
            <a:r>
              <a:t>▶  Lancement de l'application sur localhost:5173  |  API sur localhost:8000/api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Tests, Qualité &amp; 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533"/>
                </a:solidFill>
                <a:latin typeface="Segoe UI"/>
              </a:defRPr>
            </a:pPr>
            <a:r>
              <a:t>Qualité logicielle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Sécurité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Mots de passe hashés (bcrypt)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358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JWT avec expiration 60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3697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Middleware d'autorisation par 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3814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Protection anti-XSS (validation entrées)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393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Filtre de modération (profanity)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Code-splitting frontend (React.lazy)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074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Compression GZip middleware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0857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Cache immutable pour uploads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0974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Déduplication requêtes GET (dedupGet)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109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Cache TTL pour réponses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Fiabilité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778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Pinecone lazy-init avec verrou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7790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Re-index RAG auto (self-heal)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98017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Anti-triche XP (daily cap, one-shot, cooldown)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18134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Migrations auto au démarrage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63825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Logs de configuration au boot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Déploiement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▸ Frontend : Vite build → static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71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▸ Backend : FastAPI + Uvicorn/Gunicorn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▸ Base de données : Neon.tech 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▸ API Keys : Gemini, Pinecone, Stripe (.env)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▸ Environnement : Windows (dev), Linux (prod)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Métriques clés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634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~10 000+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663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Lignes de code (Python + TypeScript)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937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937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Modèles de base de données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212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5212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Routeurs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486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5486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Pages frontend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7607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20+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5760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Composants React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6035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6035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Sprints de développement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6309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53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63093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Services IA (Gemini + Pinecone)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5533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Bilan &amp;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303520" cy="274320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4864" cy="2743200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533"/>
                </a:solidFill>
                <a:latin typeface="Segoe UI"/>
              </a:defRPr>
            </a:pPr>
            <a:r>
              <a:t>✅ Bilan — Objectifs atteints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✓  Plateforme LMS complète avec 6 sprints livrés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358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✓  IA générative intégrée (tuteur RAG, QCM, résumés, PDF→cours)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284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✓  Système de gamification complet (XP, streaks, badges, classements)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210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✓  Communication temps réel (WebSocket, discussions, notifications)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13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✓  Paiements Stripe et abonnement Pro fonctionnels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✓  Architecture modulaire et extensible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solidFill>
            <a:srgbClr val="1A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103120"/>
            <a:ext cx="54864" cy="274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286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⚠  Difficultés rencontrées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 Intégration Pinecone + Gemini (dimensions 768, seuil de score 0.40)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3580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 Parsing PDF fidèle sans perte de contenu (chunks ~2000 caractères)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3284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 WebSocket notifications + chat avec reconnexion automatique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2102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 Équilibrage XP (daily cap, anti-cheat, cooldowns)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9136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•  Migration de schéma PostgreSQL (enum→varchar, colonnes héritées)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10698480" cy="36576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🔮 Perspectives d'amélioration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▸ Refresh tokens JWT et sessions persistantes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669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▸ Webhook Stripe pour remboursements et litiges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6692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▸ Glisser-déposer réorganisation cours/sections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89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▸ Notifications push mobiles (hors ligne)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989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▸ Règles de succès/badges externalisées (config  →  DB)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9893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▸ Déploiement Docker + CI/CD automatisé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5533"/>
                </a:solidFill>
                <a:latin typeface="Segoe UI"/>
              </a:defRPr>
            </a:pPr>
            <a:r>
              <a:t>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Hub4Learners — Plateforme d'apprentissage intelligente et interactive</a:t>
            </a:r>
          </a:p>
        </p:txBody>
      </p:sp>
      <p:pic>
        <p:nvPicPr>
          <p:cNvPr id="7" name="Picture 6" descr="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303520"/>
            <a:ext cx="36576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[Noms des membres]  |  [Email]  |  [Établissement]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