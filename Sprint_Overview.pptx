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"/>
            <a:ext cx="411480" cy="411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80160" y="1828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93B"/>
                </a:solidFill>
                <a:latin typeface="Calibri"/>
              </a:defRPr>
            </a:pPr>
            <a:r>
              <a:t>Hub4Learners — Sprint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54864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266"/>
                </a:solidFill>
                <a:latin typeface="Calibri"/>
              </a:defRPr>
            </a:pPr>
            <a:r>
              <a:t>Adapted Scrum  |  6 sprints × 2 weeks  |  12 weeks total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960120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188720"/>
            <a:ext cx="3383280" cy="2606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188720"/>
            <a:ext cx="45720" cy="2606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1325880"/>
            <a:ext cx="868680" cy="2743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344168"/>
            <a:ext cx="868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Sprint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12984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Identity Foundation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572768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563EB"/>
                </a:solidFill>
                <a:latin typeface="Calibri"/>
              </a:defRPr>
            </a:pPr>
            <a:r>
              <a:t>2 weeks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737360"/>
            <a:ext cx="2926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JWT auth, roles &amp; profiles</a:t>
            </a:r>
          </a:p>
          <a:p>
            <a:pPr>
              <a:spcBef>
                <a:spcPts val="100"/>
              </a:spcBef>
              <a:spcAft>
                <a:spcPts val="0"/>
              </a:spcAft>
              <a:defRPr sz="1000" b="0">
                <a:solidFill>
                  <a:srgbClr val="1E293B"/>
                </a:solidFill>
                <a:latin typeface="Calibri"/>
              </a:defRPr>
            </a:pPr>
            <a:r>
              <a:t>Base layout &amp; navigation</a:t>
            </a:r>
          </a:p>
          <a:p>
            <a:pPr>
              <a:spcBef>
                <a:spcPts val="100"/>
              </a:spcBef>
              <a:spcAft>
                <a:spcPts val="0"/>
              </a:spcAft>
              <a:defRPr sz="1000" b="0">
                <a:solidFill>
                  <a:srgbClr val="1E293B"/>
                </a:solidFill>
                <a:latin typeface="Calibri"/>
              </a:defRPr>
            </a:pPr>
            <a:r>
              <a:t>Home page &amp; course catalog</a:t>
            </a:r>
          </a:p>
          <a:p>
            <a:pPr>
              <a:spcBef>
                <a:spcPts val="100"/>
              </a:spcBef>
              <a:spcAft>
                <a:spcPts val="0"/>
              </a:spcAft>
              <a:defRPr sz="1000" b="0">
                <a:solidFill>
                  <a:srgbClr val="1E293B"/>
                </a:solidFill>
                <a:latin typeface="Calibri"/>
              </a:defRPr>
            </a:pPr>
            <a:r>
              <a:t>Student &amp; Professor dashboards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188720"/>
            <a:ext cx="3383280" cy="2606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1188720"/>
            <a:ext cx="45720" cy="26060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0" y="1325880"/>
            <a:ext cx="868680" cy="27432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1344168"/>
            <a:ext cx="868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Sprint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12984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Course Architecture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1572768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97316"/>
                </a:solidFill>
                <a:latin typeface="Calibri"/>
              </a:defRPr>
            </a:pPr>
            <a:r>
              <a:t>2 weeks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1737360"/>
            <a:ext cx="2926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Course CRUD &amp; categories</a:t>
            </a:r>
          </a:p>
          <a:p>
            <a:pPr>
              <a:spcBef>
                <a:spcPts val="100"/>
              </a:spcBef>
              <a:spcAft>
                <a:spcPts val="0"/>
              </a:spcAft>
              <a:defRPr sz="1000" b="0">
                <a:solidFill>
                  <a:srgbClr val="1E293B"/>
                </a:solidFill>
                <a:latin typeface="Calibri"/>
              </a:defRPr>
            </a:pPr>
            <a:r>
              <a:t>Section / Lesson block hierarchy</a:t>
            </a:r>
          </a:p>
          <a:p>
            <a:pPr>
              <a:spcBef>
                <a:spcPts val="100"/>
              </a:spcBef>
              <a:spcAft>
                <a:spcPts val="0"/>
              </a:spcAft>
              <a:defRPr sz="1000" b="0">
                <a:solidFill>
                  <a:srgbClr val="1E293B"/>
                </a:solidFill>
                <a:latin typeface="Calibri"/>
              </a:defRPr>
            </a:pPr>
            <a:r>
              <a:t>Rich editor (TipTap)</a:t>
            </a:r>
          </a:p>
          <a:p>
            <a:pPr>
              <a:spcBef>
                <a:spcPts val="100"/>
              </a:spcBef>
              <a:spcAft>
                <a:spcPts val="0"/>
              </a:spcAft>
              <a:defRPr sz="1000" b="0">
                <a:solidFill>
                  <a:srgbClr val="1E293B"/>
                </a:solidFill>
                <a:latin typeface="Calibri"/>
              </a:defRPr>
            </a:pPr>
            <a:r>
              <a:t>File uploads &amp; enrollment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1188720"/>
            <a:ext cx="3383280" cy="2606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46720" y="1188720"/>
            <a:ext cx="45720" cy="2606040"/>
          </a:xfrm>
          <a:prstGeom prst="rect">
            <a:avLst/>
          </a:prstGeom>
          <a:solidFill>
            <a:srgbClr val="059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29600" y="1325880"/>
            <a:ext cx="868680" cy="274320"/>
          </a:xfrm>
          <a:prstGeom prst="roundRect">
            <a:avLst/>
          </a:prstGeom>
          <a:solidFill>
            <a:srgbClr val="059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1344168"/>
            <a:ext cx="868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Sprint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12984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AI Learning Features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1572768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C69"/>
                </a:solidFill>
                <a:latin typeface="Calibri"/>
              </a:defRPr>
            </a:pPr>
            <a:r>
              <a:t>2 weeks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1737360"/>
            <a:ext cx="2926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PDF-to-course generation</a:t>
            </a:r>
          </a:p>
          <a:p>
            <a:pPr>
              <a:spcBef>
                <a:spcPts val="100"/>
              </a:spcBef>
              <a:spcAft>
                <a:spcPts val="0"/>
              </a:spcAft>
              <a:defRPr sz="1000" b="0">
                <a:solidFill>
                  <a:srgbClr val="1E293B"/>
                </a:solidFill>
                <a:latin typeface="Calibri"/>
              </a:defRPr>
            </a:pPr>
            <a:r>
              <a:t>RAG pipeline (Pinecone + Gemini)</a:t>
            </a:r>
          </a:p>
          <a:p>
            <a:pPr>
              <a:spcBef>
                <a:spcPts val="100"/>
              </a:spcBef>
              <a:spcAft>
                <a:spcPts val="0"/>
              </a:spcAft>
              <a:defRPr sz="1000" b="0">
                <a:solidFill>
                  <a:srgbClr val="1E293B"/>
                </a:solidFill>
                <a:latin typeface="Calibri"/>
              </a:defRPr>
            </a:pPr>
            <a:r>
              <a:t>In-course AI tutor</a:t>
            </a:r>
          </a:p>
          <a:p>
            <a:pPr>
              <a:spcBef>
                <a:spcPts val="100"/>
              </a:spcBef>
              <a:spcAft>
                <a:spcPts val="0"/>
              </a:spcAft>
              <a:defRPr sz="1000" b="0">
                <a:solidFill>
                  <a:srgbClr val="1E293B"/>
                </a:solidFill>
                <a:latin typeface="Calibri"/>
              </a:defRPr>
            </a:pPr>
            <a:r>
              <a:t>QCM generation &amp; discussions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023360"/>
            <a:ext cx="3383280" cy="2606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" y="4023360"/>
            <a:ext cx="45720" cy="2606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14400" y="4160520"/>
            <a:ext cx="86868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178808"/>
            <a:ext cx="868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Sprint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413308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Gamification &amp; Socials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4407408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7C3AED"/>
                </a:solidFill>
                <a:latin typeface="Calibri"/>
              </a:defRPr>
            </a:pPr>
            <a:r>
              <a:t>2 weeks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" y="4572000"/>
            <a:ext cx="2926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XP logging &amp; leveling curve</a:t>
            </a:r>
          </a:p>
          <a:p>
            <a:pPr>
              <a:spcBef>
                <a:spcPts val="100"/>
              </a:spcBef>
              <a:spcAft>
                <a:spcPts val="0"/>
              </a:spcAft>
              <a:defRPr sz="1000" b="0">
                <a:solidFill>
                  <a:srgbClr val="1E293B"/>
                </a:solidFill>
                <a:latin typeface="Calibri"/>
              </a:defRPr>
            </a:pPr>
            <a:r>
              <a:t>Daily streaks &amp; achievements</a:t>
            </a:r>
          </a:p>
          <a:p>
            <a:pPr>
              <a:spcBef>
                <a:spcPts val="100"/>
              </a:spcBef>
              <a:spcAft>
                <a:spcPts val="0"/>
              </a:spcAft>
              <a:defRPr sz="1000" b="0">
                <a:solidFill>
                  <a:srgbClr val="1E293B"/>
                </a:solidFill>
                <a:latin typeface="Calibri"/>
              </a:defRPr>
            </a:pPr>
            <a:r>
              <a:t>Badge system (event-driven)</a:t>
            </a:r>
          </a:p>
          <a:p>
            <a:pPr>
              <a:spcBef>
                <a:spcPts val="100"/>
              </a:spcBef>
              <a:spcAft>
                <a:spcPts val="0"/>
              </a:spcAft>
              <a:defRPr sz="1000" b="0">
                <a:solidFill>
                  <a:srgbClr val="1E293B"/>
                </a:solidFill>
                <a:latin typeface="Calibri"/>
              </a:defRPr>
            </a:pPr>
            <a:r>
              <a:t>Leaderboards &amp; friends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89120" y="4023360"/>
            <a:ext cx="3383280" cy="2606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389120" y="4023360"/>
            <a:ext cx="45720" cy="2606040"/>
          </a:xfrm>
          <a:prstGeom prst="rect">
            <a:avLst/>
          </a:prstGeom>
          <a:solidFill>
            <a:srgbClr val="0D9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572000" y="4160520"/>
            <a:ext cx="868680" cy="274320"/>
          </a:xfrm>
          <a:prstGeom prst="roundRect">
            <a:avLst/>
          </a:prstGeom>
          <a:solidFill>
            <a:srgbClr val="0D9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0" y="4178808"/>
            <a:ext cx="868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Sprint 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77840" y="413308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Communication &amp; Community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77840" y="4407408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D948A"/>
                </a:solidFill>
                <a:latin typeface="Calibri"/>
              </a:defRPr>
            </a:pPr>
            <a:r>
              <a:t>2 weeks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17720" y="4572000"/>
            <a:ext cx="2926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Real-time chat (WebSocket)</a:t>
            </a:r>
          </a:p>
          <a:p>
            <a:pPr>
              <a:spcBef>
                <a:spcPts val="100"/>
              </a:spcBef>
              <a:spcAft>
                <a:spcPts val="0"/>
              </a:spcAft>
              <a:defRPr sz="1000" b="0">
                <a:solidFill>
                  <a:srgbClr val="1E293B"/>
                </a:solidFill>
                <a:latin typeface="Calibri"/>
              </a:defRPr>
            </a:pPr>
            <a:r>
              <a:t>Discussion forums with votes</a:t>
            </a:r>
          </a:p>
          <a:p>
            <a:pPr>
              <a:spcBef>
                <a:spcPts val="100"/>
              </a:spcBef>
              <a:spcAft>
                <a:spcPts val="0"/>
              </a:spcAft>
              <a:defRPr sz="1000" b="0">
                <a:solidFill>
                  <a:srgbClr val="1E293B"/>
                </a:solidFill>
                <a:latin typeface="Calibri"/>
              </a:defRPr>
            </a:pPr>
            <a:r>
              <a:t>Content reporting</a:t>
            </a:r>
          </a:p>
          <a:p>
            <a:pPr>
              <a:spcBef>
                <a:spcPts val="100"/>
              </a:spcBef>
              <a:spcAft>
                <a:spcPts val="0"/>
              </a:spcAft>
              <a:defRPr sz="1000" b="0">
                <a:solidFill>
                  <a:srgbClr val="1E293B"/>
                </a:solidFill>
                <a:latin typeface="Calibri"/>
              </a:defRPr>
            </a:pPr>
            <a:r>
              <a:t>Live notifications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46720" y="4023360"/>
            <a:ext cx="3383280" cy="2606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46720" y="4023360"/>
            <a:ext cx="45720" cy="26060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8229600" y="4160520"/>
            <a:ext cx="868680" cy="27432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29600" y="4178808"/>
            <a:ext cx="868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Sprint 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35440" y="413308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Payment, Analytics &amp; Admin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35440" y="4407408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C2626"/>
                </a:solidFill>
                <a:latin typeface="Calibri"/>
              </a:defRPr>
            </a:pPr>
            <a:r>
              <a:t>2 weeks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75320" y="4572000"/>
            <a:ext cx="2926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Stripe Checkout &amp; webhooks</a:t>
            </a:r>
          </a:p>
          <a:p>
            <a:pPr>
              <a:spcBef>
                <a:spcPts val="100"/>
              </a:spcBef>
              <a:spcAft>
                <a:spcPts val="0"/>
              </a:spcAft>
              <a:defRPr sz="1000" b="0">
                <a:solidFill>
                  <a:srgbClr val="1E293B"/>
                </a:solidFill>
                <a:latin typeface="Calibri"/>
              </a:defRPr>
            </a:pPr>
            <a:r>
              <a:t>Pro subscription ($9.99/mo)</a:t>
            </a:r>
          </a:p>
          <a:p>
            <a:pPr>
              <a:spcBef>
                <a:spcPts val="100"/>
              </a:spcBef>
              <a:spcAft>
                <a:spcPts val="0"/>
              </a:spcAft>
              <a:defRPr sz="1000" b="0">
                <a:solidFill>
                  <a:srgbClr val="1E293B"/>
                </a:solidFill>
                <a:latin typeface="Calibri"/>
              </a:defRPr>
            </a:pPr>
            <a:r>
              <a:t>Learner &amp; professor analytics</a:t>
            </a:r>
          </a:p>
          <a:p>
            <a:pPr>
              <a:spcBef>
                <a:spcPts val="100"/>
              </a:spcBef>
              <a:spcAft>
                <a:spcPts val="0"/>
              </a:spcAft>
              <a:defRPr sz="1000" b="0">
                <a:solidFill>
                  <a:srgbClr val="1E293B"/>
                </a:solidFill>
                <a:latin typeface="Calibri"/>
              </a:defRPr>
            </a:pPr>
            <a:r>
              <a:t>Multi-tenant admin dashboards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31520" y="6217920"/>
            <a:ext cx="10698480" cy="411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4400" y="626364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Methodology: Adapted Scrum — 2-week fixed-length sprints, backlog refinement, sprint review with supervisor, written retrospective per cycle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1/1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