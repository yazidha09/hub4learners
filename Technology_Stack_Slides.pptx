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Frontend Technology Stack</a:t>
            </a:r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640080" cy="640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188720"/>
            <a:ext cx="34747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3474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Core Framework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18288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828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React 19 + TypeScript 5.9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Typed components, hooks, lazy loading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246888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468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Vite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Fast build tool, HMR, code-splitting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0" y="3108960"/>
            <a:ext cx="365760" cy="365760"/>
          </a:xfrm>
          <a:prstGeom prst="ellipse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08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react-router-dom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Client-side routing with lazy pages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188720"/>
            <a:ext cx="34747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118872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371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Styling &amp; UI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0" y="182880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1828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Tailwind CSS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Utility-first, dark mode (class strategy)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0" y="24688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468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TipTap Editor (ProseMirror)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Rich text: color, align, highlight, underline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0" y="3108960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108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react-markdown + react-pdf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Markdown rendering &amp; PDF display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1188720"/>
            <a:ext cx="320040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0" y="1188720"/>
            <a:ext cx="32004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State &amp; API Client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18288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AuthContext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1984248"/>
            <a:ext cx="2560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JWT token, user, roles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215798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GamificationContext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2313432"/>
            <a:ext cx="2560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XP, level, streak toasts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24871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useNotifications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2642616"/>
            <a:ext cx="2560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REST + WebSocket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281635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useSettings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2971800"/>
            <a:ext cx="2560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Theme, compact, privacy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314553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_client.ts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3300984"/>
            <a:ext cx="2560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dedupGet, cachedGet, TTL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023360"/>
            <a:ext cx="1088136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" y="4023360"/>
            <a:ext cx="10881360" cy="54864"/>
          </a:xfrm>
          <a:prstGeom prst="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API Client Modules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auth.ts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473659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Register, login, profile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40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course.ts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49040" y="473659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CRUD, sections, lessons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admin.ts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73659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Admin operations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org.ts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473659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University management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" y="5166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friends.ts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53309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Requests, messages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40" y="5166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notifications.ts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49040" y="53309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CRUD notifications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166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gamification.ts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53309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XP, achievements, badges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5166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qcm.ts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53309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Quiz generation &amp; submit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" y="5760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discussions.ts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592531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Posts, votes, reports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49040" y="5760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payment.ts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49040" y="592531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Stripe checkout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5760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billing.ts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592531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Pro subscription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5760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public.ts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0" y="592531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Public endpoints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" y="63550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category.ts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" y="6519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Categories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54864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Backend Technology Stack</a:t>
            </a:r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640080" cy="640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188720"/>
            <a:ext cx="530352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53035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Framework &amp; Server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18288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828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FastAPI + Python 3.11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Async web framework with auto-docs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24688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468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Uvicorn (ASGI Server)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High-performance async server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0" y="1828800"/>
            <a:ext cx="365760" cy="365760"/>
          </a:xfrm>
          <a:prstGeom prst="ellipse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JW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828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JWT (HS256) + bcrypt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Stateless auth, password hashing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0" y="246888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WebSockets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Real-time messaging &amp; notifications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188720"/>
            <a:ext cx="502920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188720"/>
            <a:ext cx="5029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AI &amp; RAG Pipeline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182880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1828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Google Gemini 3.1 Flash Lite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Chat, QCM, summaries, embeddings (768-dim)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2468880"/>
            <a:ext cx="365760" cy="365760"/>
          </a:xfrm>
          <a:prstGeom prst="ellipse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468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Pinecone Vector 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Semantic search, cosine similarity, hub4learners index</a:t>
            </a:r>
          </a:p>
        </p:txBody>
      </p:sp>
      <p:sp>
        <p:nvSpPr>
          <p:cNvPr id="30" name="Oval 29"/>
          <p:cNvSpPr/>
          <p:nvPr/>
        </p:nvSpPr>
        <p:spPr>
          <a:xfrm>
            <a:off x="9601200" y="1828800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18288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PyMuPDF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0574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PDF parsing &amp; chunking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840480"/>
            <a:ext cx="1088136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840480"/>
            <a:ext cx="10881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API Routes &amp; Controllers (16 modules)</a:t>
            </a:r>
          </a:p>
        </p:txBody>
      </p:sp>
      <p:sp>
        <p:nvSpPr>
          <p:cNvPr id="36" name="Oval 35"/>
          <p:cNvSpPr/>
          <p:nvPr/>
        </p:nvSpPr>
        <p:spPr>
          <a:xfrm>
            <a:off x="1097280" y="441452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43891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54456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JWT, register, login</a:t>
            </a:r>
          </a:p>
        </p:txBody>
      </p:sp>
      <p:sp>
        <p:nvSpPr>
          <p:cNvPr id="39" name="Oval 38"/>
          <p:cNvSpPr/>
          <p:nvPr/>
        </p:nvSpPr>
        <p:spPr>
          <a:xfrm>
            <a:off x="3749040" y="441452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0" y="43891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Course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454456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CRUD, sections, lessons</a:t>
            </a:r>
          </a:p>
        </p:txBody>
      </p:sp>
      <p:sp>
        <p:nvSpPr>
          <p:cNvPr id="42" name="Oval 41"/>
          <p:cNvSpPr/>
          <p:nvPr/>
        </p:nvSpPr>
        <p:spPr>
          <a:xfrm>
            <a:off x="6400800" y="441452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3891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54456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Course categories</a:t>
            </a:r>
          </a:p>
        </p:txBody>
      </p:sp>
      <p:sp>
        <p:nvSpPr>
          <p:cNvPr id="45" name="Oval 44"/>
          <p:cNvSpPr/>
          <p:nvPr/>
        </p:nvSpPr>
        <p:spPr>
          <a:xfrm>
            <a:off x="9052560" y="441452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43891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454456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Dashboard &amp; users</a:t>
            </a:r>
          </a:p>
        </p:txBody>
      </p:sp>
      <p:sp>
        <p:nvSpPr>
          <p:cNvPr id="48" name="Oval 47"/>
          <p:cNvSpPr/>
          <p:nvPr/>
        </p:nvSpPr>
        <p:spPr>
          <a:xfrm>
            <a:off x="1097280" y="491744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48920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Org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0" y="504748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University CRUD</a:t>
            </a:r>
          </a:p>
        </p:txBody>
      </p:sp>
      <p:sp>
        <p:nvSpPr>
          <p:cNvPr id="51" name="Oval 50"/>
          <p:cNvSpPr/>
          <p:nvPr/>
        </p:nvSpPr>
        <p:spPr>
          <a:xfrm>
            <a:off x="3749040" y="491744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23360" y="48920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23360" y="504748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Chat, QCM, summaries</a:t>
            </a:r>
          </a:p>
        </p:txBody>
      </p:sp>
      <p:sp>
        <p:nvSpPr>
          <p:cNvPr id="54" name="Oval 53"/>
          <p:cNvSpPr/>
          <p:nvPr/>
        </p:nvSpPr>
        <p:spPr>
          <a:xfrm>
            <a:off x="6400800" y="491744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48920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Friend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504748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Requests, messages</a:t>
            </a:r>
          </a:p>
        </p:txBody>
      </p:sp>
      <p:sp>
        <p:nvSpPr>
          <p:cNvPr id="57" name="Oval 56"/>
          <p:cNvSpPr/>
          <p:nvPr/>
        </p:nvSpPr>
        <p:spPr>
          <a:xfrm>
            <a:off x="9052560" y="491744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0" y="48920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504748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Push + WebSocket</a:t>
            </a:r>
          </a:p>
        </p:txBody>
      </p:sp>
      <p:sp>
        <p:nvSpPr>
          <p:cNvPr id="60" name="Oval 59"/>
          <p:cNvSpPr/>
          <p:nvPr/>
        </p:nvSpPr>
        <p:spPr>
          <a:xfrm>
            <a:off x="1097280" y="542036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71600" y="53949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Course-Gen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1600" y="555040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PDF to course</a:t>
            </a:r>
          </a:p>
        </p:txBody>
      </p:sp>
      <p:sp>
        <p:nvSpPr>
          <p:cNvPr id="63" name="Oval 62"/>
          <p:cNvSpPr/>
          <p:nvPr/>
        </p:nvSpPr>
        <p:spPr>
          <a:xfrm>
            <a:off x="3749040" y="542036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23360" y="53949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Announcement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23360" y="555040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Univ. announcements</a:t>
            </a:r>
          </a:p>
        </p:txBody>
      </p:sp>
      <p:sp>
        <p:nvSpPr>
          <p:cNvPr id="66" name="Oval 65"/>
          <p:cNvSpPr/>
          <p:nvPr/>
        </p:nvSpPr>
        <p:spPr>
          <a:xfrm>
            <a:off x="6400800" y="542036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53949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Payment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0" y="555040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Stripe checkout</a:t>
            </a:r>
          </a:p>
        </p:txBody>
      </p:sp>
      <p:sp>
        <p:nvSpPr>
          <p:cNvPr id="69" name="Oval 68"/>
          <p:cNvSpPr/>
          <p:nvPr/>
        </p:nvSpPr>
        <p:spPr>
          <a:xfrm>
            <a:off x="9052560" y="542036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26880" y="53949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Billing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0" y="555040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Pro subscription</a:t>
            </a:r>
          </a:p>
        </p:txBody>
      </p:sp>
      <p:sp>
        <p:nvSpPr>
          <p:cNvPr id="72" name="Oval 71"/>
          <p:cNvSpPr/>
          <p:nvPr/>
        </p:nvSpPr>
        <p:spPr>
          <a:xfrm>
            <a:off x="1097280" y="592328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71600" y="58978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71600" y="605332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XP, badges, leaderboard</a:t>
            </a:r>
          </a:p>
        </p:txBody>
      </p:sp>
      <p:sp>
        <p:nvSpPr>
          <p:cNvPr id="75" name="Oval 74"/>
          <p:cNvSpPr/>
          <p:nvPr/>
        </p:nvSpPr>
        <p:spPr>
          <a:xfrm>
            <a:off x="3749040" y="592328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023360" y="58978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23360" y="605332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Posts, votes, reports</a:t>
            </a:r>
          </a:p>
        </p:txBody>
      </p:sp>
      <p:sp>
        <p:nvSpPr>
          <p:cNvPr id="78" name="Oval 77"/>
          <p:cNvSpPr/>
          <p:nvPr/>
        </p:nvSpPr>
        <p:spPr>
          <a:xfrm>
            <a:off x="6400800" y="592328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75120" y="58978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75120" y="605332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Public endpoints</a:t>
            </a:r>
          </a:p>
        </p:txBody>
      </p:sp>
      <p:sp>
        <p:nvSpPr>
          <p:cNvPr id="81" name="Oval 80"/>
          <p:cNvSpPr/>
          <p:nvPr/>
        </p:nvSpPr>
        <p:spPr>
          <a:xfrm>
            <a:off x="9052560" y="592328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326880" y="58978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WebSocket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0" y="6053328"/>
            <a:ext cx="2103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Real-time connections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54864" cy="548640"/>
          </a:xfrm>
          <a:prstGeom prst="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Database &amp; Infrastructure Stack</a:t>
            </a:r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640080" cy="640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188720"/>
            <a:ext cx="502920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5029200" cy="54864"/>
          </a:xfrm>
          <a:prstGeom prst="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Database Layer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1828800"/>
            <a:ext cx="365760" cy="365760"/>
          </a:xfrm>
          <a:prstGeom prst="ellipse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828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PostgreSQL (Neon.tech Serverless)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Neon serverless, sslmode=require, pool_size=20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24688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468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SQLModel 0.0.16 + SQLAlchemy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ORM with Pydantic integration, table creation on startup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0" y="310896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08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asyncpg + psycopg2-binary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Async and sync PostgreSQL connectors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521208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52120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Main Database Tables (25+)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8288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Auth, roles, profiles,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0299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universities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0299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Organizational hierarchy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23113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courses / sections / subsections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23113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Course hierarchy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43230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course_materials / lesson_blocks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43230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Content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6334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enrollments / course_progress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6334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Learning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8346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course_feedback / qcm_attempts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28346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Assessment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03580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friendships / friend_messages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30358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Social graph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23697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323697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In-app + push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43814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discussion_posts / votes / reports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814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63931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user_gamification / xp_logs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363931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Gamification stats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8404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achievements / badges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384048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Achievement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04164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generated_courses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404164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AI course generation jobs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023360"/>
            <a:ext cx="502920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4023360"/>
            <a:ext cx="5029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External Services</a:t>
            </a:r>
          </a:p>
        </p:txBody>
      </p:sp>
      <p:sp>
        <p:nvSpPr>
          <p:cNvPr id="48" name="Oval 47"/>
          <p:cNvSpPr/>
          <p:nvPr/>
        </p:nvSpPr>
        <p:spPr>
          <a:xfrm>
            <a:off x="1188720" y="466344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4663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Stripe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3736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Checkout sessions, payment validation, Pro at $9.99/mo</a:t>
            </a:r>
          </a:p>
        </p:txBody>
      </p:sp>
      <p:sp>
        <p:nvSpPr>
          <p:cNvPr id="51" name="Oval 50"/>
          <p:cNvSpPr/>
          <p:nvPr/>
        </p:nvSpPr>
        <p:spPr>
          <a:xfrm>
            <a:off x="1188720" y="5303520"/>
            <a:ext cx="365760" cy="365760"/>
          </a:xfrm>
          <a:prstGeom prst="ellipse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60" y="5303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Neon.tech (Serverless PostgreSQL)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37360" y="5532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Managed DB, pool_size=20, max_overflow=30</a:t>
            </a:r>
          </a:p>
        </p:txBody>
      </p:sp>
      <p:sp>
        <p:nvSpPr>
          <p:cNvPr id="54" name="Oval 53"/>
          <p:cNvSpPr/>
          <p:nvPr/>
        </p:nvSpPr>
        <p:spPr>
          <a:xfrm>
            <a:off x="1188720" y="5943600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3736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Git + UV (Package Manager)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37360" y="6172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266"/>
                </a:solidFill>
                <a:latin typeface="Calibri"/>
              </a:defRPr>
            </a:pPr>
            <a:r>
              <a:t>Version control, uv.lock, pyproject.toml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4023360"/>
            <a:ext cx="521208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17920" y="4023360"/>
            <a:ext cx="52120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Architecture &amp; Middleware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4572000"/>
            <a:ext cx="36576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3-Tier Architecture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4736592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Frontend (React) → Backend (FastAPI) → DB (PostgreSQL)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0" y="4873752"/>
            <a:ext cx="36576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0" y="4873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CORS Middleware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0" y="5038344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Allow localhost:5173 for dev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0" y="5175504"/>
            <a:ext cx="36576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0" y="51755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GZip Compression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5340096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Compress responses &gt;1KB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0" y="5477256"/>
            <a:ext cx="36576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0" y="54772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Static Files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0" y="5641848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Serve uploads with long-lived cache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0" y="5779008"/>
            <a:ext cx="36576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00" y="57790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Connection Pool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594360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Pool 20, overflow 30, recycle 300s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0" y="6080760"/>
            <a:ext cx="36576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0" y="6080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Auto Migrations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0" y="6245352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SQLModel.create_all + inline SQL on startup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83680" y="6382512"/>
            <a:ext cx="36576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0" y="63825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WebSocket Manager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0" y="6547104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ConnectionManager for real-time comm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0" y="6684264"/>
            <a:ext cx="36576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58000" y="66842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Code Splitting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0" y="6848856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266"/>
                </a:solidFill>
                <a:latin typeface="Calibri"/>
              </a:defRPr>
            </a:pPr>
            <a:r>
              <a:t>Frontend: vendor, editor, pdf, markdown chunks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